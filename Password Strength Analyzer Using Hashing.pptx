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32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82018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05918"/>
            <a:ext cx="10566400" cy="4239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82018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05918"/>
            <a:ext cx="10566400" cy="4239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827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PYTHON · 🔐 CYBERSECURITY · MODULES 1–4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28850"/>
            <a:ext cx="10883392" cy="131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6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9150" y="3799814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Password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0" y="391411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75050" y="3799814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#️⃣ Hash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56300" y="391411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30950" y="3799814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Analysis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12200" y="391411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86850" y="3799814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Result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470528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[Vedant A. Raut] | [CSE(DS)] | [CD25124] | [Sec : B]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 / 24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11992-0A7D-30C0-DF6C-41E6F79415A4}"/>
              </a:ext>
            </a:extLst>
          </p:cNvPr>
          <p:cNvSpPr txBox="1"/>
          <p:nvPr/>
        </p:nvSpPr>
        <p:spPr>
          <a:xfrm>
            <a:off x="733245" y="2070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14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D8B483A2-7C58-A843-A143-0A8342770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  <p:pic>
        <p:nvPicPr>
          <p:cNvPr id="16" name="Picture 15" descr="The image depicts the S. B. Jain Institute of Technology &amp; Management &amp; Research, specifically highlighting the Department of Computer Science and Engineering, focusing on Data Science.">
            <a:extLst>
              <a:ext uri="{FF2B5EF4-FFF2-40B4-BE49-F238E27FC236}">
                <a16:creationId xmlns:a16="http://schemas.microsoft.com/office/drawing/2014/main" id="{86A1F434-F117-1513-9C4C-F3E0055B2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98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783" y="1578272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INTRODUCTION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22783" y="1847486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9133" y="2501536"/>
            <a:ext cx="51816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38683" y="2711086"/>
            <a:ext cx="490537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8683" y="3272400"/>
            <a:ext cx="490537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passwords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8683" y="3594926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guess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1233" y="2501536"/>
            <a:ext cx="51816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711086"/>
            <a:ext cx="490537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3272400"/>
            <a:ext cx="490537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choices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3594926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create simple patterns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150" y="4243883"/>
            <a:ext cx="51816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4453433"/>
            <a:ext cx="490537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28700" y="5014747"/>
            <a:ext cx="490537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passwords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8700" y="5299174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identified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1250" y="4205783"/>
            <a:ext cx="51816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415333"/>
            <a:ext cx="4905375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4976647"/>
            <a:ext cx="490537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feedback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5299174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simple strength 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2 / 24</a:t>
            </a:r>
            <a:endParaRPr lang="en-US" sz="1200" dirty="0"/>
          </a:p>
        </p:txBody>
      </p:sp>
      <p:pic>
        <p:nvPicPr>
          <p:cNvPr id="24" name="Picture 23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D37DFF6D-7947-A67D-72A9-41E2122D2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30266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INTRODUCTION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93193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053531"/>
            <a:ext cx="33909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263081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8700" y="2824394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password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8700" y="3146921"/>
            <a:ext cx="30609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0550" y="2053531"/>
            <a:ext cx="33909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0100" y="2263081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#️⃣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10100" y="2824394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hash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0100" y="3146921"/>
            <a:ext cx="30609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81950" y="2053531"/>
            <a:ext cx="33909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1500" y="2263081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91500" y="2824394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common passwords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91500" y="3146921"/>
            <a:ext cx="30609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lookup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150" y="3795877"/>
            <a:ext cx="33909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4005427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28700" y="4566742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characteristics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28700" y="4889268"/>
            <a:ext cx="30609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patterns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00550" y="3795877"/>
            <a:ext cx="33909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0100" y="4005427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10100" y="4566742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strength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0100" y="4889268"/>
            <a:ext cx="30609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/ Medium / Strong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81950" y="3795877"/>
            <a:ext cx="3390900" cy="1551847"/>
          </a:xfrm>
          <a:prstGeom prst="roundRect">
            <a:avLst>
              <a:gd name="adj" fmla="val 61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1500" y="4005427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91500" y="4566742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suggestions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91500" y="4889268"/>
            <a:ext cx="306095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tips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655574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3 / 24</a:t>
            </a:r>
            <a:endParaRPr lang="en-US" sz="1200" dirty="0"/>
          </a:p>
        </p:txBody>
      </p:sp>
      <p:pic>
        <p:nvPicPr>
          <p:cNvPr id="32" name="Picture 31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707F2DE9-4C8D-BAE2-83AF-A93256CA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93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INTRODUCTION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93156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Project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365970"/>
            <a:ext cx="2286000" cy="1089620"/>
          </a:xfrm>
          <a:prstGeom prst="roundRect">
            <a:avLst>
              <a:gd name="adj" fmla="val 757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2211" y="2626320"/>
            <a:ext cx="2079879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5500" y="2946335"/>
            <a:ext cx="2273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hashing 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27152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75050" y="2117065"/>
            <a:ext cx="2286000" cy="1587434"/>
          </a:xfrm>
          <a:prstGeom prst="roundRect">
            <a:avLst>
              <a:gd name="adj" fmla="val 52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8110" y="2377415"/>
            <a:ext cx="2079879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78110" y="2697428"/>
            <a:ext cx="2079879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and common-password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56300" y="27152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30950" y="2241485"/>
            <a:ext cx="2286000" cy="1338527"/>
          </a:xfrm>
          <a:prstGeom prst="roundRect">
            <a:avLst>
              <a:gd name="adj" fmla="val 6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4011" y="2501835"/>
            <a:ext cx="2079879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34011" y="2821848"/>
            <a:ext cx="207987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password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12200" y="27152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86850" y="2241485"/>
            <a:ext cx="2286000" cy="1338527"/>
          </a:xfrm>
          <a:prstGeom prst="roundRect">
            <a:avLst>
              <a:gd name="adj" fmla="val 6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911" y="2501835"/>
            <a:ext cx="2079879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89911" y="2821848"/>
            <a:ext cx="2079879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integrated application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939448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is the foundation. This presentation covers Modules 2, 3 and 4.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619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4 / 24</a:t>
            </a:r>
            <a:endParaRPr lang="en-US" sz="1200" dirty="0"/>
          </a:p>
        </p:txBody>
      </p:sp>
      <p:pic>
        <p:nvPicPr>
          <p:cNvPr id="24" name="Picture 23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140BABF1-AB2F-9B34-6A6A-23900A6EC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0082" y="183382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INTRODUCTION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910082" y="210304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Do in Modules 2–4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6432" y="2757092"/>
            <a:ext cx="3390900" cy="2026841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5982" y="2966642"/>
            <a:ext cx="306095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3264" y="3329847"/>
            <a:ext cx="2956052" cy="126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password dataset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hashes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common passwords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basic rules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strength score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97832" y="2757092"/>
            <a:ext cx="3390900" cy="2026841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7382" y="2966642"/>
            <a:ext cx="306095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4664" y="3329847"/>
            <a:ext cx="2956052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advanced patterns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complexity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evaluation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recommendations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79232" y="2757092"/>
            <a:ext cx="3390900" cy="2026841"/>
          </a:xfrm>
          <a:prstGeom prst="roundRect">
            <a:avLst>
              <a:gd name="adj" fmla="val 469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8782" y="2966642"/>
            <a:ext cx="306095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88782" y="3329847"/>
            <a:ext cx="2956052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all features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complete workflow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whole system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strength result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5 / 24</a:t>
            </a:r>
            <a:endParaRPr lang="en-US" sz="1200" dirty="0"/>
          </a:p>
        </p:txBody>
      </p:sp>
      <p:pic>
        <p:nvPicPr>
          <p:cNvPr id="19" name="Picture 18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8F09C5F2-6047-D26C-5F9F-E49767C54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162" y="1109054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INTRODUCTION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57162" y="1563545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3512" y="2032319"/>
            <a:ext cx="1328341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06153" y="2032319"/>
            <a:ext cx="1035182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hashlib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55635" y="2032319"/>
            <a:ext cx="548415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18350" y="2032319"/>
            <a:ext cx="1088297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getpass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0948" y="2032319"/>
            <a:ext cx="992651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pathlib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7898" y="2032319"/>
            <a:ext cx="1543050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85248" y="2032319"/>
            <a:ext cx="2072415" cy="431800"/>
          </a:xfrm>
          <a:prstGeom prst="roundRect">
            <a:avLst>
              <a:gd name="adj" fmla="val 426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and functions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162" y="2699069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3512" y="3218445"/>
            <a:ext cx="1367367" cy="779727"/>
          </a:xfrm>
          <a:prstGeom prst="roundRect">
            <a:avLst>
              <a:gd name="adj" fmla="val 1058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Password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6129" y="341271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00779" y="3334003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63395" y="341271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38045" y="3334003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00662" y="341271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75312" y="3334003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37929" y="341271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12579" y="3218445"/>
            <a:ext cx="1367367" cy="779727"/>
          </a:xfrm>
          <a:prstGeom prst="roundRect">
            <a:avLst>
              <a:gd name="adj" fmla="val 1058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5196" y="341271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49846" y="3334003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162" y="653453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6 / 24</a:t>
            </a:r>
            <a:endParaRPr lang="en-US" sz="1200" dirty="0"/>
          </a:p>
        </p:txBody>
      </p:sp>
      <p:pic>
        <p:nvPicPr>
          <p:cNvPr id="27" name="Picture 26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81EB4E67-B24D-EE45-30EF-A31D7120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304" y="1193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46684" y="166627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Password Strength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9676" y="2110715"/>
            <a:ext cx="10820400" cy="1714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Password input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#️⃣ SHA-256 hashing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Common-password detection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Basic strength rules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Weak / Medium / Strong classification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60654" y="4034699"/>
            <a:ext cx="1734807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90711" y="412234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65361" y="4034699"/>
            <a:ext cx="1734873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5484" y="412234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0134" y="4034699"/>
            <a:ext cx="1734807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Check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0191" y="412234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74841" y="4034699"/>
            <a:ext cx="1734807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04897" y="412234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79547" y="4034699"/>
            <a:ext cx="1734807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4304" y="6619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7 / 24</a:t>
            </a:r>
            <a:endParaRPr lang="en-US" sz="1200" dirty="0"/>
          </a:p>
        </p:txBody>
      </p:sp>
      <p:pic>
        <p:nvPicPr>
          <p:cNvPr id="16" name="Picture 15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A4CEE80D-621D-F613-E819-CE965706F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078" y="1250714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97078" y="1691637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Password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3428" y="2173979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TXT File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884678" y="2288279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59328" y="2173979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40578" y="2288279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15228" y="2173979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96478" y="2288279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71128" y="2173979"/>
            <a:ext cx="2286000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73786" y="3028649"/>
            <a:ext cx="10799064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common_passwords.txt stores commonly used passwords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reads each password from the file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password is converted into a SHA-256 hash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are stored in a set for fast lookup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7078" y="667619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8 / 24</a:t>
            </a:r>
            <a:endParaRPr lang="en-US" sz="1200" dirty="0"/>
          </a:p>
        </p:txBody>
      </p:sp>
      <p:pic>
        <p:nvPicPr>
          <p:cNvPr id="14" name="Picture 13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2CFC7ACA-CF3D-355E-71EF-B52170396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725" y="1261119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87725" y="1530337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4075" y="2184387"/>
            <a:ext cx="1998927" cy="1607741"/>
          </a:xfrm>
          <a:prstGeom prst="roundRect">
            <a:avLst>
              <a:gd name="adj" fmla="val 5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5280" y="2368537"/>
            <a:ext cx="183651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75280" y="2866348"/>
            <a:ext cx="1836518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5280" y="3110160"/>
            <a:ext cx="183651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characters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5280" y="3341277"/>
            <a:ext cx="18365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32702" y="2184387"/>
            <a:ext cx="1998993" cy="1607741"/>
          </a:xfrm>
          <a:prstGeom prst="roundRect">
            <a:avLst>
              <a:gd name="adj" fmla="val 5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3906" y="2368537"/>
            <a:ext cx="183658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13906" y="2866348"/>
            <a:ext cx="18365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3906" y="3110160"/>
            <a:ext cx="18365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13906" y="3341277"/>
            <a:ext cx="18365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71395" y="2184387"/>
            <a:ext cx="1998993" cy="1607741"/>
          </a:xfrm>
          <a:prstGeom prst="roundRect">
            <a:avLst>
              <a:gd name="adj" fmla="val 5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2599" y="2368537"/>
            <a:ext cx="183658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2599" y="2866348"/>
            <a:ext cx="18365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2599" y="3110160"/>
            <a:ext cx="18365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a–z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52599" y="3341277"/>
            <a:ext cx="18365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10089" y="2184387"/>
            <a:ext cx="1998993" cy="1607741"/>
          </a:xfrm>
          <a:prstGeom prst="roundRect">
            <a:avLst>
              <a:gd name="adj" fmla="val 5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1292" y="2368537"/>
            <a:ext cx="183658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1292" y="2866348"/>
            <a:ext cx="18365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1292" y="3110160"/>
            <a:ext cx="18365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1292" y="3341277"/>
            <a:ext cx="18365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48782" y="2184387"/>
            <a:ext cx="1998993" cy="1607741"/>
          </a:xfrm>
          <a:prstGeom prst="roundRect">
            <a:avLst>
              <a:gd name="adj" fmla="val 5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9986" y="2368537"/>
            <a:ext cx="1836586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129986" y="2866348"/>
            <a:ext cx="183658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29986" y="3110160"/>
            <a:ext cx="18365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# $ 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29986" y="3341277"/>
            <a:ext cx="18365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4075" y="4033427"/>
            <a:ext cx="3424767" cy="601927"/>
          </a:xfrm>
          <a:prstGeom prst="roundRect">
            <a:avLst>
              <a:gd name="adj" fmla="val 137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2558" tIns="134572" rIns="22558" bIns="109172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0–2: Weak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058542" y="4033427"/>
            <a:ext cx="3424767" cy="601927"/>
          </a:xfrm>
          <a:prstGeom prst="roundRect">
            <a:avLst>
              <a:gd name="adj" fmla="val 137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2558" tIns="134572" rIns="22558" bIns="109172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3: Medium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3009" y="4033427"/>
            <a:ext cx="3424767" cy="601927"/>
          </a:xfrm>
          <a:prstGeom prst="roundRect">
            <a:avLst>
              <a:gd name="adj" fmla="val 137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2558" tIns="134572" rIns="22558" bIns="109172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4–5: Strong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7725" y="668659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9 / 24</a:t>
            </a:r>
            <a:endParaRPr lang="en-US" sz="1200" dirty="0"/>
          </a:p>
        </p:txBody>
      </p:sp>
      <p:pic>
        <p:nvPicPr>
          <p:cNvPr id="34" name="Picture 33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7593AFAE-1ACF-F5EF-54C0-74FBAC7B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304" y="1188596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54304" y="145781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60654" y="2236284"/>
            <a:ext cx="1734807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90711" y="232392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65361" y="2236284"/>
            <a:ext cx="1734873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Password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95484" y="232392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0134" y="2111864"/>
            <a:ext cx="1734807" cy="815314"/>
          </a:xfrm>
          <a:prstGeom prst="roundRect">
            <a:avLst>
              <a:gd name="adj" fmla="val 1012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SHA-256 Hash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00191" y="232392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74841" y="2111864"/>
            <a:ext cx="1734807" cy="815314"/>
          </a:xfrm>
          <a:prstGeom prst="roundRect">
            <a:avLst>
              <a:gd name="adj" fmla="val 1012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Common Passwords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04897" y="2323925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479547" y="2111864"/>
            <a:ext cx="1734807" cy="815314"/>
          </a:xfrm>
          <a:prstGeom prst="roundRect">
            <a:avLst>
              <a:gd name="adj" fmla="val 1012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Common Password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808" y="2997025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654" y="3386887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Strength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41904" y="347453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16554" y="3386887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Score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97804" y="347453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454" y="3386887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53704" y="347453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928354" y="3386887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304" y="661407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10 / 24</a:t>
            </a:r>
            <a:endParaRPr lang="en-US" sz="1200" dirty="0"/>
          </a:p>
        </p:txBody>
      </p:sp>
      <p:pic>
        <p:nvPicPr>
          <p:cNvPr id="23" name="Picture 22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6650A7BD-8B77-6F9B-A345-C3F0AF65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310" y="1217873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24310" y="148709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0660" y="2141141"/>
            <a:ext cx="3289300" cy="756841"/>
          </a:xfrm>
          <a:prstGeom prst="roundRect">
            <a:avLst>
              <a:gd name="adj" fmla="val 109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410" y="2261791"/>
            <a:ext cx="30609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hashlib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9410" y="2546214"/>
            <a:ext cx="306095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0660" y="2999581"/>
            <a:ext cx="3289300" cy="756841"/>
          </a:xfrm>
          <a:prstGeom prst="roundRect">
            <a:avLst>
              <a:gd name="adj" fmla="val 109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410" y="3120231"/>
            <a:ext cx="30609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410" y="3404654"/>
            <a:ext cx="306095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checks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0660" y="3858022"/>
            <a:ext cx="3289300" cy="756841"/>
          </a:xfrm>
          <a:prstGeom prst="roundRect">
            <a:avLst>
              <a:gd name="adj" fmla="val 109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410" y="3978672"/>
            <a:ext cx="30609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410" y="4263095"/>
            <a:ext cx="306095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password 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0660" y="4716463"/>
            <a:ext cx="3289300" cy="756841"/>
          </a:xfrm>
          <a:prstGeom prst="roundRect">
            <a:avLst>
              <a:gd name="adj" fmla="val 109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410" y="4837113"/>
            <a:ext cx="306095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pathlib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410" y="5121536"/>
            <a:ext cx="306095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dataset file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61260" y="2141141"/>
            <a:ext cx="7023100" cy="3360738"/>
          </a:xfrm>
          <a:prstGeom prst="roundRect">
            <a:avLst>
              <a:gd name="adj" fmla="val 24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59972" tIns="159972" rIns="0" bIns="134572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hashlib, re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hash_pw(p):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hashlib.sha256(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p.encode()).hexdigest()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score(p):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 = len(p) &gt;= 8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 += bool(re.search("[A-Z]", p))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 += bool(re.search("[a-z]", p))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 += bool(re.search("[0-9]", p))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 += bool(re.search("\W", p))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4310" y="664335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11 / 24</a:t>
            </a:r>
            <a:endParaRPr lang="en-US" sz="1200" dirty="0"/>
          </a:p>
        </p:txBody>
      </p:sp>
      <p:pic>
        <p:nvPicPr>
          <p:cNvPr id="19" name="Picture 18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3A51C18D-186C-F5B5-D92F-78242283D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1255251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MODULE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95808" y="1524469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Testing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385544"/>
              </p:ext>
            </p:extLst>
          </p:nvPr>
        </p:nvGraphicFramePr>
        <p:xfrm>
          <a:off x="508508" y="2184869"/>
          <a:ext cx="10553700" cy="2001308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"admin"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"hello123"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"Hello@123"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95808" y="441477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password is marked Weak immediately.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5808" y="668073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12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B0E5FAD4-D628-75D3-6733-B64E5528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428" y="1265084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30428" y="153430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Advanced Password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182002"/>
            <a:ext cx="10820400" cy="1714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Pattern detection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Repeated-character detection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Sequential pattern detection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Better complexity analysis</a:t>
            </a:r>
            <a:endParaRPr lang="en-US" sz="1900" dirty="0"/>
          </a:p>
          <a:p>
            <a:pPr marL="198628" indent="-198628" algn="l">
              <a:lnSpc>
                <a:spcPts val="2660"/>
              </a:lnSpc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Improved recommendations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30428" y="4099633"/>
            <a:ext cx="10566400" cy="581620"/>
          </a:xfrm>
          <a:prstGeom prst="roundRect">
            <a:avLst>
              <a:gd name="adj" fmla="val 15285"/>
            </a:avLst>
          </a:prstGeom>
          <a:solidFill>
            <a:srgbClr val="1D4ED8"/>
          </a:solidFill>
          <a:ln/>
        </p:spPr>
        <p:txBody>
          <a:bodyPr wrap="square" lIns="24762" tIns="113662" rIns="24762" bIns="8826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checks + Advanced checks = more accurate results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428" y="669056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13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E0FC30AC-D9CF-409A-5133-6D33A3ADC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77" y="1193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714477" y="146301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Pattern Detection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37336"/>
              </p:ext>
            </p:extLst>
          </p:nvPr>
        </p:nvGraphicFramePr>
        <p:xfrm>
          <a:off x="727177" y="2123418"/>
          <a:ext cx="10553700" cy="3001962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type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is weak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"123456"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sequence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Attackers try it first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"abcdef"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Letter sequence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alphabetical order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"111111"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digit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variety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"aaaaaa"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letter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variety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"qwerty"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Keyboard pattern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common habit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4477" y="53539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patterns are guessed quickly, so they are weak.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4477" y="6619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14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34642DDB-10DB-909E-5220-6CB7E85A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674" y="1261132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80674" y="153035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Complexity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7024" y="2308820"/>
            <a:ext cx="3253912" cy="1529027"/>
          </a:xfrm>
          <a:prstGeom prst="roundRect">
            <a:avLst>
              <a:gd name="adj" fmla="val 62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574" y="2518370"/>
            <a:ext cx="291985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checks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3856" y="2881573"/>
            <a:ext cx="2814954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length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/ lower case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 and symbols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74286" y="2824423"/>
            <a:ext cx="258498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15334" y="2184400"/>
            <a:ext cx="3253978" cy="177793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4884" y="2393950"/>
            <a:ext cx="2919924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checks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22166" y="2757152"/>
            <a:ext cx="2815022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diversity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characters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02663" y="2877802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15413" y="2763502"/>
            <a:ext cx="3025312" cy="619720"/>
          </a:xfrm>
          <a:prstGeom prst="roundRect">
            <a:avLst>
              <a:gd name="adj" fmla="val 133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8550" tIns="134572" rIns="28550" bIns="109172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Analysis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0674" y="668661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15 / 24</a:t>
            </a:r>
            <a:endParaRPr lang="en-US" sz="1200" dirty="0"/>
          </a:p>
        </p:txBody>
      </p:sp>
      <p:pic>
        <p:nvPicPr>
          <p:cNvPr id="15" name="Picture 14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7B84E9A3-8CC3-5ADB-398A-CBCEA87F2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954" y="1272513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47954" y="154173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4304" y="2195781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35554" y="2283428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10204" y="2195781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91454" y="2283428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66104" y="2195781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47354" y="2283428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22004" y="2195781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Repetition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458" y="2832033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304" y="3221901"/>
            <a:ext cx="3204633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5860" tIns="134572" rIns="25860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Check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54187" y="3309548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28837" y="3221901"/>
            <a:ext cx="3204633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5860" tIns="134572" rIns="25860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28721" y="3309548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03371" y="3221901"/>
            <a:ext cx="3204633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25860" tIns="134572" rIns="25860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Result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954" y="669799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16 / 24</a:t>
            </a:r>
            <a:endParaRPr lang="en-US" sz="1200" dirty="0"/>
          </a:p>
        </p:txBody>
      </p:sp>
      <p:pic>
        <p:nvPicPr>
          <p:cNvPr id="19" name="Picture 18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FD2E8B73-73A8-7D38-EF5F-5C2B7797C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458" y="1284749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489458" y="1553967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9054" y="2201667"/>
            <a:ext cx="3323844" cy="153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expressions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operations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700" dirty="0"/>
          </a:p>
          <a:p>
            <a:pPr marL="184404" indent="-184404" algn="l">
              <a:lnSpc>
                <a:spcPts val="238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026408" y="2208017"/>
            <a:ext cx="7023100" cy="2439988"/>
          </a:xfrm>
          <a:prstGeom prst="roundRect">
            <a:avLst>
              <a:gd name="adj" fmla="val 338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59972" tIns="159972" rIns="0" bIns="134572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has_repeat(p):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re.search(r"(.)\1{2,}", p) is not None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has_sequence(p):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 = "abcdefghijklmnopqrstuvwxyz0123456789"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for i in range(len(p) - 2):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if p[i:i+3].lower() in s: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return True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False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89458" y="671022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17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BAD719E9-125C-BA72-8259-A9B6F46F6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148" y="1193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MODULE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75148" y="146301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Testing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96748"/>
              </p:ext>
            </p:extLst>
          </p:nvPr>
        </p:nvGraphicFramePr>
        <p:xfrm>
          <a:off x="687848" y="2123418"/>
          <a:ext cx="10553700" cy="2501635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"qwerty123"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detected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"aaaaaa1!"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characters detected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"abcd@2025"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 characters detected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"Tr9#kLp2@x"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weaknesses found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5148" y="4853657"/>
            <a:ext cx="10566400" cy="563827"/>
          </a:xfrm>
          <a:prstGeom prst="roundRect">
            <a:avLst>
              <a:gd name="adj" fmla="val 15767"/>
            </a:avLst>
          </a:prstGeom>
          <a:solidFill>
            <a:srgbClr val="1D4ED8"/>
          </a:solidFill>
          <a:ln/>
        </p:spPr>
        <p:txBody>
          <a:bodyPr wrap="square" lIns="24762" tIns="113662" rIns="24762" bIns="88262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improves the accuracy of password evaluation.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75148" y="6619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18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FDB4F7F0-1589-568A-E72B-61683C0F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404" y="122388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92404" y="149309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Complete Password Security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92404" y="2089998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Modules 2 and 3 into one complete application.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98754" y="2576368"/>
            <a:ext cx="3390900" cy="1498468"/>
          </a:xfrm>
          <a:prstGeom prst="roundRect">
            <a:avLst>
              <a:gd name="adj" fmla="val 6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304" y="2785918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08304" y="3347236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input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80154" y="2576368"/>
            <a:ext cx="3390900" cy="1498468"/>
          </a:xfrm>
          <a:prstGeom prst="roundRect">
            <a:avLst>
              <a:gd name="adj" fmla="val 6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2785918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#️⃣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9704" y="3347236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61554" y="2576368"/>
            <a:ext cx="3390900" cy="1498468"/>
          </a:xfrm>
          <a:prstGeom prst="roundRect">
            <a:avLst>
              <a:gd name="adj" fmla="val 63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1104" y="2785918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71104" y="3347236"/>
            <a:ext cx="3060954" cy="543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Common-password detection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8754" y="4265332"/>
            <a:ext cx="3390900" cy="1239441"/>
          </a:xfrm>
          <a:prstGeom prst="roundRect">
            <a:avLst>
              <a:gd name="adj" fmla="val 76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304" y="4474882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8304" y="5036199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analysis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80154" y="4265332"/>
            <a:ext cx="3390900" cy="1239441"/>
          </a:xfrm>
          <a:prstGeom prst="roundRect">
            <a:avLst>
              <a:gd name="adj" fmla="val 76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4474882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89704" y="5036199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analysis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861554" y="4265332"/>
            <a:ext cx="3390900" cy="1239441"/>
          </a:xfrm>
          <a:prstGeom prst="roundRect">
            <a:avLst>
              <a:gd name="adj" fmla="val 76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1104" y="4474882"/>
            <a:ext cx="306095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71104" y="5036199"/>
            <a:ext cx="306095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strength result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2404" y="664936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19 / 24</a:t>
            </a:r>
            <a:endParaRPr lang="en-US" sz="1200" dirty="0"/>
          </a:p>
        </p:txBody>
      </p:sp>
      <p:pic>
        <p:nvPicPr>
          <p:cNvPr id="25" name="Picture 24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E10E4F83-1FA9-51A1-D1C1-70FFDF870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954" y="1248718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47954" y="1517936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4304" y="2171986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35554" y="2259633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10204" y="2171986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Python Application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91454" y="2259633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66104" y="2171986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47354" y="2259633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22004" y="2171986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458" y="2808238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304" y="3198106"/>
            <a:ext cx="2286000" cy="815314"/>
          </a:xfrm>
          <a:prstGeom prst="roundRect">
            <a:avLst>
              <a:gd name="adj" fmla="val 1012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Password Dataset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35554" y="341017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0204" y="3322526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91454" y="341017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66104" y="3322526"/>
            <a:ext cx="2286000" cy="566407"/>
          </a:xfrm>
          <a:prstGeom prst="roundRect">
            <a:avLst>
              <a:gd name="adj" fmla="val 145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7354" y="3410174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22004" y="3198106"/>
            <a:ext cx="2286000" cy="815314"/>
          </a:xfrm>
          <a:prstGeom prst="roundRect">
            <a:avLst>
              <a:gd name="adj" fmla="val 1012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39639" tIns="134572" rIns="39639" bIns="10917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Result + Suggestions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954" y="667419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20 / 24</a:t>
            </a:r>
            <a:endParaRPr lang="en-US" sz="1200" dirty="0"/>
          </a:p>
        </p:txBody>
      </p:sp>
      <p:pic>
        <p:nvPicPr>
          <p:cNvPr id="23" name="Picture 22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5E97B46A-A509-BB3A-D7A0-DE83B04E2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504" y="1265083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582504" y="153430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8854" y="2188351"/>
            <a:ext cx="4559300" cy="1914922"/>
          </a:xfrm>
          <a:prstGeom prst="roundRect">
            <a:avLst>
              <a:gd name="adj" fmla="val 43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59972" tIns="159972" rIns="34242" bIns="134572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Password-Strength-Analyzer/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│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├── main.py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├── common_passwords.txt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├── README.md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└── algorithm.md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59812" y="2576953"/>
            <a:ext cx="5854446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program logic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common_passwords.txt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password dataset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project description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algorithm.md</a:t>
            </a: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algorithm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2504" y="669056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21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A35AE2A6-88C5-BAC1-A416-12DF1EAB4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304" y="1202668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654304" y="1471886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Application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60654" y="2241488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23271" y="2320206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497921" y="2125936"/>
            <a:ext cx="1367367" cy="779727"/>
          </a:xfrm>
          <a:prstGeom prst="roundRect">
            <a:avLst>
              <a:gd name="adj" fmla="val 1058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Password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60537" y="2320206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35187" y="2241488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97804" y="2320206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72454" y="2241488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Hash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071" y="2320206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09721" y="2241488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72338" y="2320206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46988" y="2241488"/>
            <a:ext cx="136736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808" y="2975509"/>
            <a:ext cx="10883392" cy="34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0654" y="3480929"/>
            <a:ext cx="173480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90711" y="355964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65361" y="3480929"/>
            <a:ext cx="1734873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Strength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5484" y="355964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70134" y="3365376"/>
            <a:ext cx="1734807" cy="779727"/>
          </a:xfrm>
          <a:prstGeom prst="roundRect">
            <a:avLst>
              <a:gd name="adj" fmla="val 1058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Suggestions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0191" y="355964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74841" y="3480929"/>
            <a:ext cx="173480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04897" y="3559647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79547" y="3480929"/>
            <a:ext cx="1734807" cy="548614"/>
          </a:xfrm>
          <a:prstGeom prst="roundRect">
            <a:avLst>
              <a:gd name="adj" fmla="val 1504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 wrap="square" lIns="45672" tIns="134572" rIns="45672" bIns="10917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4304" y="662814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22 / 24</a:t>
            </a:r>
            <a:endParaRPr lang="en-US" sz="1200" dirty="0"/>
          </a:p>
        </p:txBody>
      </p:sp>
      <p:pic>
        <p:nvPicPr>
          <p:cNvPr id="27" name="Picture 26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56714006-41C2-F74E-744F-28115B7DC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1248564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00100" y="1517782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Testing and Output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569087"/>
              </p:ext>
            </p:extLst>
          </p:nvPr>
        </p:nvGraphicFramePr>
        <p:xfrm>
          <a:off x="812800" y="2178182"/>
          <a:ext cx="5168901" cy="2501635"/>
        </p:xfrm>
        <a:graphic>
          <a:graphicData uri="http://schemas.openxmlformats.org/drawingml/2006/table">
            <a:tbl>
              <a:tblPr/>
              <a:tblGrid>
                <a:gridCol w="1722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"123456"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"hello123"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"Hello@123"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"X7@kP9#qL2"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91250" y="2171832"/>
            <a:ext cx="5168900" cy="2356644"/>
          </a:xfrm>
          <a:prstGeom prst="roundRect">
            <a:avLst>
              <a:gd name="adj" fmla="val 350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159972" tIns="159972" rIns="15954" bIns="13457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python main.py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Enter password: ********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SHA-256: 9c4f...e1a7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Common password: No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Rules passed: 5/5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Patterns found: None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Strength: STRONG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Tip: Use a unique password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for every account.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0100" y="667404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23 / 24</a:t>
            </a:r>
            <a:endParaRPr lang="en-US" sz="1200" dirty="0"/>
          </a:p>
        </p:txBody>
      </p:sp>
      <p:pic>
        <p:nvPicPr>
          <p:cNvPr id="8" name="Picture 7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18010341-13BD-C479-EF74-2E78E991D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6450" y="1250912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MODULE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06450" y="15201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123380"/>
            <a:ext cx="5181600" cy="2168988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332930"/>
            <a:ext cx="4905375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0394" y="2696132"/>
            <a:ext cx="4799711" cy="94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Python-based password analyzer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and common-password detection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and advanced strength analysis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improvement suggestions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900" y="2123380"/>
            <a:ext cx="5181600" cy="2168988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4450" y="2332930"/>
            <a:ext cx="4905375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494" y="2696132"/>
            <a:ext cx="4799711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password datasets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entropy analysis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breach checking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generator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/ web application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advanced security techniques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954" y="4476514"/>
            <a:ext cx="108833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6450" y="667639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Strength Analyzer Using Hashing · 24 / 24</a:t>
            </a:r>
            <a:endParaRPr lang="en-US" sz="1200" dirty="0"/>
          </a:p>
        </p:txBody>
      </p:sp>
      <p:pic>
        <p:nvPicPr>
          <p:cNvPr id="13" name="Picture 12" descr="The image depicts the S. B. Jain Institute of Technology &amp; Management &amp; Research, specifically highlighting the Department of Computer Science and Engineering, focusing on Data Science.&#10;&#10;AI-generated content may be incorrect.">
            <a:extLst>
              <a:ext uri="{FF2B5EF4-FFF2-40B4-BE49-F238E27FC236}">
                <a16:creationId xmlns:a16="http://schemas.microsoft.com/office/drawing/2014/main" id="{A958DCBA-B3F9-1FA0-C67E-8BA00F2C2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137410"/>
            <a:ext cx="11783568" cy="1331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ssword Strength Analyzer Using Hashing">
  <a:themeElements>
    <a:clrScheme name="Password Strength Analyzer Using Hashing">
      <a:dk1>
        <a:srgbClr val="1E3A8A"/>
      </a:dk1>
      <a:lt1>
        <a:srgbClr val="FFFFFF"/>
      </a:lt1>
      <a:dk2>
        <a:srgbClr val="566BA7"/>
      </a:dk2>
      <a:lt2>
        <a:srgbClr val="E9EBF3"/>
      </a:lt2>
      <a:accent1>
        <a:srgbClr val="1D4ED8"/>
      </a:accent1>
      <a:accent2>
        <a:srgbClr val="64748B"/>
      </a:accent2>
      <a:accent3>
        <a:srgbClr val="1F2937"/>
      </a:accent3>
      <a:accent4>
        <a:srgbClr val="9AA0A6"/>
      </a:accent4>
      <a:accent5>
        <a:srgbClr val="7889B9"/>
      </a:accent5>
      <a:accent6>
        <a:srgbClr val="9AA6CA"/>
      </a:accent6>
      <a:hlink>
        <a:srgbClr val="0563C1"/>
      </a:hlink>
      <a:folHlink>
        <a:srgbClr val="954F72"/>
      </a:folHlink>
    </a:clrScheme>
    <a:fontScheme name="Password Strength Analyzer Using Hash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1425</Words>
  <Application>Microsoft Office PowerPoint</Application>
  <PresentationFormat>Widescreen</PresentationFormat>
  <Paragraphs>460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Courier New</vt:lpstr>
      <vt:lpstr>Password Strength Analyzer Using Hashing</vt:lpstr>
      <vt:lpstr>PASSWORD STRENGTH ANALYZER USING HASHING</vt:lpstr>
      <vt:lpstr>Problem Statement</vt:lpstr>
      <vt:lpstr>Project Objective</vt:lpstr>
      <vt:lpstr>Overall Project Plan</vt:lpstr>
      <vt:lpstr>What We Will Do in Modules 2–4</vt:lpstr>
      <vt:lpstr>Technology and Workflow</vt:lpstr>
      <vt:lpstr>Module 2: Password Strength Analysis</vt:lpstr>
      <vt:lpstr>Common Password Dataset</vt:lpstr>
      <vt:lpstr>Password Strength Rules</vt:lpstr>
      <vt:lpstr>Module 2 Algorithm</vt:lpstr>
      <vt:lpstr>Module 2 Implementation</vt:lpstr>
      <vt:lpstr>Module 2 Testing</vt:lpstr>
      <vt:lpstr>Module 3: Advanced Password Analysis</vt:lpstr>
      <vt:lpstr>Weak Pattern Detection</vt:lpstr>
      <vt:lpstr>Advanced Complexity Analysis</vt:lpstr>
      <vt:lpstr>Module 3 Algorithm</vt:lpstr>
      <vt:lpstr>Module 3 Implementation</vt:lpstr>
      <vt:lpstr>Module 3 Testing</vt:lpstr>
      <vt:lpstr>Module 4: Complete Password Security Application</vt:lpstr>
      <vt:lpstr>Complete System Architecture</vt:lpstr>
      <vt:lpstr>Project File Structure</vt:lpstr>
      <vt:lpstr>Complete Application Workflow</vt:lpstr>
      <vt:lpstr>Final Testing and Output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Strength Analyzer Using Hashing</dc:title>
  <dc:subject/>
  <dc:creator>Vedant Raut</dc:creator>
  <cp:lastModifiedBy>Vedant Raut</cp:lastModifiedBy>
  <cp:revision>2</cp:revision>
  <dcterms:created xsi:type="dcterms:W3CDTF">2026-10-08T06:11:29Z</dcterms:created>
  <dcterms:modified xsi:type="dcterms:W3CDTF">2026-10-12T17:59:45Z</dcterms:modified>
</cp:coreProperties>
</file>